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200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93058" y="184686"/>
            <a:ext cx="6360993" cy="369332"/>
          </a:xfrm>
          <a:prstGeom prst="rect">
            <a:avLst/>
          </a:prstGeom>
          <a:noFill/>
        </p:spPr>
        <p:txBody>
          <a:bodyPr wrap="square">
            <a:spAutoFit/>
          </a:bodyPr>
          <a:lstStyle/>
          <a:p>
            <a:r>
              <a:rPr lang="en-US" dirty="0"/>
              <a:t>   </a:t>
            </a:r>
            <a:r>
              <a:rPr dirty="0"/>
              <a:t>Transforming CDM Spreadsheet into a Provider Domain Model</a:t>
            </a:r>
          </a:p>
        </p:txBody>
      </p:sp>
      <p:sp>
        <p:nvSpPr>
          <p:cNvPr id="4" name="TextBox 3"/>
          <p:cNvSpPr txBox="1"/>
          <p:nvPr/>
        </p:nvSpPr>
        <p:spPr>
          <a:xfrm>
            <a:off x="324515" y="747122"/>
            <a:ext cx="250" cy="250"/>
          </a:xfrm>
          <a:prstGeom prst="rect">
            <a:avLst/>
          </a:prstGeom>
          <a:noFill/>
        </p:spPr>
        <p:txBody>
          <a:bodyPr wrap="none">
            <a:spAutoFit/>
          </a:bodyPr>
          <a:lstStyle/>
          <a:p>
            <a:r>
              <a:rPr dirty="0"/>
              <a:t>Business CDM Spreadsheet</a:t>
            </a:r>
          </a:p>
          <a:p>
            <a:pPr lvl="1"/>
            <a:r>
              <a:rPr dirty="0"/>
              <a:t>• Critical Data Elements</a:t>
            </a:r>
          </a:p>
          <a:p>
            <a:pPr lvl="1"/>
            <a:r>
              <a:rPr dirty="0"/>
              <a:t>• Business Definitions</a:t>
            </a:r>
          </a:p>
          <a:p>
            <a:pPr lvl="1"/>
            <a:r>
              <a:rPr dirty="0"/>
              <a:t>• Owners / Stewards</a:t>
            </a:r>
          </a:p>
          <a:p>
            <a:pPr lvl="1"/>
            <a:r>
              <a:rPr dirty="0"/>
              <a:t>• Source Systems</a:t>
            </a:r>
          </a:p>
        </p:txBody>
      </p:sp>
      <p:sp>
        <p:nvSpPr>
          <p:cNvPr id="5" name="TextBox 4"/>
          <p:cNvSpPr txBox="1"/>
          <p:nvPr/>
        </p:nvSpPr>
        <p:spPr>
          <a:xfrm>
            <a:off x="551307" y="2841642"/>
            <a:ext cx="250" cy="250"/>
          </a:xfrm>
          <a:prstGeom prst="rect">
            <a:avLst/>
          </a:prstGeom>
          <a:noFill/>
        </p:spPr>
        <p:txBody>
          <a:bodyPr wrap="none">
            <a:spAutoFit/>
          </a:bodyPr>
          <a:lstStyle/>
          <a:p>
            <a:r>
              <a:rPr dirty="0"/>
              <a:t>Modeling Approach</a:t>
            </a:r>
          </a:p>
          <a:p>
            <a:pPr lvl="1"/>
            <a:r>
              <a:rPr dirty="0"/>
              <a:t>• Entity identification</a:t>
            </a:r>
          </a:p>
          <a:p>
            <a:pPr lvl="1"/>
            <a:r>
              <a:rPr dirty="0"/>
              <a:t>• Normalization</a:t>
            </a:r>
          </a:p>
          <a:p>
            <a:pPr lvl="1"/>
            <a:r>
              <a:rPr dirty="0"/>
              <a:t>• Bridge tables</a:t>
            </a:r>
          </a:p>
          <a:p>
            <a:pPr lvl="1"/>
            <a:r>
              <a:rPr dirty="0"/>
              <a:t>• Profile grouping</a:t>
            </a:r>
          </a:p>
        </p:txBody>
      </p:sp>
      <p:sp>
        <p:nvSpPr>
          <p:cNvPr id="6" name="TextBox 5"/>
          <p:cNvSpPr txBox="1"/>
          <p:nvPr/>
        </p:nvSpPr>
        <p:spPr>
          <a:xfrm>
            <a:off x="4090869" y="747372"/>
            <a:ext cx="250" cy="250"/>
          </a:xfrm>
          <a:prstGeom prst="rect">
            <a:avLst/>
          </a:prstGeom>
          <a:noFill/>
        </p:spPr>
        <p:txBody>
          <a:bodyPr wrap="none">
            <a:spAutoFit/>
          </a:bodyPr>
          <a:lstStyle/>
          <a:p>
            <a:r>
              <a:rPr dirty="0"/>
              <a:t>Provider Domain Model</a:t>
            </a:r>
          </a:p>
          <a:p>
            <a:pPr lvl="1"/>
            <a:r>
              <a:rPr dirty="0"/>
              <a:t>• Provider</a:t>
            </a:r>
          </a:p>
          <a:p>
            <a:pPr lvl="1"/>
            <a:r>
              <a:rPr dirty="0"/>
              <a:t>• Address / Contact</a:t>
            </a:r>
          </a:p>
          <a:p>
            <a:pPr lvl="1"/>
            <a:r>
              <a:rPr dirty="0"/>
              <a:t>• License / Specialty</a:t>
            </a:r>
          </a:p>
          <a:p>
            <a:pPr lvl="1"/>
            <a:r>
              <a:rPr dirty="0"/>
              <a:t>• Operational Profiles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185583D-5ED3-589E-CF95-6490E2BB7071}"/>
              </a:ext>
            </a:extLst>
          </p:cNvPr>
          <p:cNvSpPr txBox="1"/>
          <p:nvPr/>
        </p:nvSpPr>
        <p:spPr>
          <a:xfrm>
            <a:off x="412955" y="442220"/>
            <a:ext cx="8524568" cy="5355312"/>
          </a:xfrm>
          <a:prstGeom prst="rect">
            <a:avLst/>
          </a:prstGeom>
          <a:noFill/>
        </p:spPr>
        <p:txBody>
          <a:bodyPr wrap="square">
            <a:spAutoFit/>
          </a:bodyPr>
          <a:lstStyle/>
          <a:p>
            <a:pPr>
              <a:buNone/>
            </a:pPr>
            <a:r>
              <a:rPr lang="en-US" b="1" dirty="0"/>
              <a:t>1️⃣ Business Input</a:t>
            </a:r>
            <a:endParaRPr lang="en-US" dirty="0"/>
          </a:p>
          <a:p>
            <a:pPr>
              <a:buNone/>
            </a:pPr>
            <a:r>
              <a:rPr lang="en-US" dirty="0"/>
              <a:t>We first worked with the business teams to identify the Critical Data Elements in the CDM spreadsheet, including definitions, ownership, and system mappings.</a:t>
            </a:r>
          </a:p>
          <a:p>
            <a:pPr>
              <a:buNone/>
            </a:pPr>
            <a:endParaRPr lang="en-US" dirty="0"/>
          </a:p>
          <a:p>
            <a:pPr>
              <a:buNone/>
            </a:pPr>
            <a:r>
              <a:rPr lang="en-US" b="1" dirty="0"/>
              <a:t>2️⃣ Modeling Approach</a:t>
            </a:r>
            <a:endParaRPr lang="en-US" dirty="0"/>
          </a:p>
          <a:p>
            <a:pPr>
              <a:buNone/>
            </a:pPr>
            <a:r>
              <a:rPr lang="en-US" dirty="0"/>
              <a:t>Using the provider model you shared as the reference structure, I translated those CDM elements into a normalized relational model. I applied entity identification, normalization, bridge tables for many-to-many relationships, and profile grouping for operational attributes.</a:t>
            </a:r>
          </a:p>
          <a:p>
            <a:pPr>
              <a:buNone/>
            </a:pPr>
            <a:endParaRPr lang="en-US" dirty="0"/>
          </a:p>
          <a:p>
            <a:pPr>
              <a:buNone/>
            </a:pPr>
            <a:r>
              <a:rPr lang="en-US" b="1" dirty="0"/>
              <a:t>3️⃣ Final Model</a:t>
            </a:r>
            <a:endParaRPr lang="en-US" dirty="0"/>
          </a:p>
          <a:p>
            <a:pPr>
              <a:buNone/>
            </a:pPr>
            <a:r>
              <a:rPr lang="en-US" dirty="0"/>
              <a:t>The final result is a provider-centered domain model where the core Provider entity remains clean, and supporting entities like Address, Contact, License, Specialty, and operational profiles capture the remaining CDM attributes.</a:t>
            </a:r>
          </a:p>
          <a:p>
            <a:pPr>
              <a:buNone/>
            </a:pPr>
            <a:endParaRPr lang="en-US" b="1" dirty="0"/>
          </a:p>
          <a:p>
            <a:pPr>
              <a:buNone/>
            </a:pPr>
            <a:r>
              <a:rPr lang="en-US" b="1" dirty="0">
                <a:solidFill>
                  <a:srgbClr val="FF0000"/>
                </a:solidFill>
              </a:rPr>
              <a:t>Conclusion</a:t>
            </a:r>
          </a:p>
          <a:p>
            <a:pPr>
              <a:buNone/>
            </a:pPr>
            <a:r>
              <a:rPr lang="en-US"/>
              <a:t>The </a:t>
            </a:r>
            <a:r>
              <a:rPr lang="en-US" dirty="0"/>
              <a:t>goal was to preserve the structure of the provider model you shared while ensuring that the critical data elements collected from the business are traceable and properly normalized in the relational model.</a:t>
            </a:r>
          </a:p>
        </p:txBody>
      </p:sp>
    </p:spTree>
    <p:extLst>
      <p:ext uri="{BB962C8B-B14F-4D97-AF65-F5344CB8AC3E}">
        <p14:creationId xmlns:p14="http://schemas.microsoft.com/office/powerpoint/2010/main" val="207990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205</Words>
  <Application>Microsoft Office PowerPoint</Application>
  <PresentationFormat>Affichage à l'écran (4:3)</PresentationFormat>
  <Paragraphs>27</Paragraphs>
  <Slides>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vt:i4>
      </vt:variant>
    </vt:vector>
  </HeadingPairs>
  <TitlesOfParts>
    <vt:vector size="5" baseType="lpstr">
      <vt:lpstr>Arial</vt:lpstr>
      <vt:lpstr>Calibri</vt:lpstr>
      <vt:lpstr>Office Theme</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serge tchuenteu</dc:creator>
  <cp:keywords/>
  <dc:description>generated using python-pptx</dc:description>
  <cp:lastModifiedBy>serge tchuenteu</cp:lastModifiedBy>
  <cp:revision>2</cp:revision>
  <dcterms:created xsi:type="dcterms:W3CDTF">2013-01-27T09:14:16Z</dcterms:created>
  <dcterms:modified xsi:type="dcterms:W3CDTF">2026-03-09T19:02:26Z</dcterms:modified>
  <cp:category/>
</cp:coreProperties>
</file>